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37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5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1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3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1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7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3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0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2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4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1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rashnic/fitb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7A93B028-F8F4-4F84-98D7-2779E4D8B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C254636-BEEC-4E48-BF0C-D2C6BF583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3AF5681-1B96-4C35-AB17-AB7793A4E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1C65047-892E-46D5-9E82-93FB2E432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D2952C-9885-4337-B770-851BDEB88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07DD51-ACE9-4B98-AB77-D23DBEF48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F483983-8B4E-40F0-BF70-192D840B7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853237-6306-4734-906A-E334FDEAA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848C5D2-21E8-4E56-B25E-809869A75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031DF7-FF33-F145-7DBE-1C78E8CB3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653" y="744909"/>
            <a:ext cx="5797883" cy="3155419"/>
          </a:xfrm>
        </p:spPr>
        <p:txBody>
          <a:bodyPr anchor="b">
            <a:normAutofit/>
          </a:bodyPr>
          <a:lstStyle/>
          <a:p>
            <a:pPr algn="l"/>
            <a:r>
              <a:rPr lang="en-AE" sz="5400" dirty="0"/>
              <a:t>⌚ </a:t>
            </a:r>
            <a:r>
              <a:rPr lang="en-AE" sz="5400" dirty="0" err="1"/>
              <a:t>BellaBeat</a:t>
            </a:r>
            <a:r>
              <a:rPr lang="en-AE" sz="5400" dirty="0"/>
              <a:t> Smart Wellness Device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6DBBA-C839-B74A-9D11-971715B31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85" y="4074784"/>
            <a:ext cx="5797882" cy="2054306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AE" sz="2200" i="1" dirty="0"/>
              <a:t>Strategic Health Insights &amp; Consumer Behaviour Trends for Global Market Scaling</a:t>
            </a:r>
          </a:p>
          <a:p>
            <a:pPr algn="l">
              <a:lnSpc>
                <a:spcPct val="100000"/>
              </a:lnSpc>
            </a:pPr>
            <a:endParaRPr lang="en-AE" sz="2200" dirty="0"/>
          </a:p>
          <a:p>
            <a:pPr algn="l">
              <a:lnSpc>
                <a:spcPct val="100000"/>
              </a:lnSpc>
            </a:pPr>
            <a:r>
              <a:rPr lang="en-AE" sz="2200" i="1" u="sng" dirty="0"/>
              <a:t>Presented By:</a:t>
            </a:r>
            <a:r>
              <a:rPr lang="en-AE" sz="2200" i="1" dirty="0"/>
              <a:t> </a:t>
            </a:r>
            <a:r>
              <a:rPr lang="en-AE" sz="2200" dirty="0"/>
              <a:t>Pritesh Das, Junior Data Analyst, Marketing Analytics Team, </a:t>
            </a:r>
            <a:r>
              <a:rPr lang="en-AE" sz="2200" dirty="0" err="1"/>
              <a:t>Bellabeat</a:t>
            </a:r>
            <a:endParaRPr lang="en-AE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44C85-5718-62FC-C10F-25FA60C9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6" r="1446"/>
          <a:stretch>
            <a:fillRect/>
          </a:stretch>
        </p:blipFill>
        <p:spPr>
          <a:xfrm>
            <a:off x="7188594" y="10"/>
            <a:ext cx="5003406" cy="6857990"/>
          </a:xfrm>
          <a:prstGeom prst="rect">
            <a:avLst/>
          </a:prstGeom>
        </p:spPr>
      </p:pic>
      <p:grpSp>
        <p:nvGrpSpPr>
          <p:cNvPr id="23" name="Cross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29158" y="3369564"/>
            <a:ext cx="118872" cy="118872"/>
            <a:chOff x="1175347" y="3733800"/>
            <a:chExt cx="118872" cy="11887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Bottom Right">
            <a:extLst>
              <a:ext uri="{FF2B5EF4-FFF2-40B4-BE49-F238E27FC236}">
                <a16:creationId xmlns:a16="http://schemas.microsoft.com/office/drawing/2014/main" id="{F7513226-C6E6-4885-A42A-D6411FF0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9BC07C6F-FF27-4C7D-BF5D-4B4B8880B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062B0F-BCEB-436F-AB59-970CC5EEE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2CDB5C4-8E76-40DC-A3EA-AF3D5066EA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188252B-68F7-4FD1-98ED-39451A985B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43015DC-C4C8-408D-91FE-CB52233190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E420DB7-0D88-4E37-B948-6FB4A8AD86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8BA96C9-4B69-43D0-A129-4C2DF6571D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B9C0CB4-8BF5-4813-A26B-7B3C36368E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1A6261E-C71C-43D5-8164-2B8BB8DFA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546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6190-C0CD-E38C-6001-14B448D7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AE" dirty="0"/>
              <a:t>🎯 Business Task  and Strategic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357E-BC65-8C34-2343-B50025E3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AE" b="1" dirty="0"/>
              <a:t>Core Mandate:</a:t>
            </a:r>
            <a:r>
              <a:rPr lang="en-AE" dirty="0"/>
              <a:t> </a:t>
            </a:r>
            <a:r>
              <a:rPr lang="en-AE" dirty="0" err="1"/>
              <a:t>Analyze</a:t>
            </a:r>
            <a:r>
              <a:rPr lang="en-AE" dirty="0"/>
              <a:t> public, non-</a:t>
            </a:r>
            <a:r>
              <a:rPr lang="en-AE" dirty="0" err="1"/>
              <a:t>Bellabeat</a:t>
            </a:r>
            <a:r>
              <a:rPr lang="en-AE" dirty="0"/>
              <a:t> smart wearable fitness data to uncover distinct consumer </a:t>
            </a:r>
            <a:r>
              <a:rPr lang="en-AE" dirty="0" err="1"/>
              <a:t>behavioral</a:t>
            </a:r>
            <a:r>
              <a:rPr lang="en-AE" dirty="0"/>
              <a:t> trends across physical activity, sleep cycles, and metabolic energy dynamics. </a:t>
            </a:r>
          </a:p>
          <a:p>
            <a:pPr algn="just"/>
            <a:r>
              <a:rPr lang="en-AE" b="1" dirty="0"/>
              <a:t>Strategic Goal:</a:t>
            </a:r>
            <a:r>
              <a:rPr lang="en-AE" dirty="0"/>
              <a:t> Translate data-driven insights into high-level marketing and product development recommendations to guide </a:t>
            </a:r>
            <a:r>
              <a:rPr lang="en-AE" dirty="0" err="1"/>
              <a:t>Bellabeat’s</a:t>
            </a:r>
            <a:r>
              <a:rPr lang="en-AE" dirty="0"/>
              <a:t> global expansion.</a:t>
            </a:r>
          </a:p>
          <a:p>
            <a:pPr algn="just"/>
            <a:r>
              <a:rPr lang="en-AE" b="1" dirty="0"/>
              <a:t>Leadership Objective: </a:t>
            </a:r>
            <a:r>
              <a:rPr lang="en-AE" dirty="0"/>
              <a:t>Provide co-founder and Chief Creative Officer Urška Sršen with actionable intelligence to optimize user engagement, refine digital campaigns, and scale up premium ecosystem monetization.</a:t>
            </a:r>
          </a:p>
        </p:txBody>
      </p:sp>
    </p:spTree>
    <p:extLst>
      <p:ext uri="{BB962C8B-B14F-4D97-AF65-F5344CB8AC3E}">
        <p14:creationId xmlns:p14="http://schemas.microsoft.com/office/powerpoint/2010/main" val="407604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628-EB69-960C-D5E1-CC23B87E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800" dirty="0"/>
              <a:t>🗂️ Data Architecture and Analytical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A977-F475-4F01-06B1-B8F58DD7C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825625"/>
            <a:ext cx="11936361" cy="4667250"/>
          </a:xfrm>
        </p:spPr>
        <p:txBody>
          <a:bodyPr>
            <a:normAutofit fontScale="62500" lnSpcReduction="20000"/>
          </a:bodyPr>
          <a:lstStyle/>
          <a:p>
            <a:r>
              <a:rPr lang="en-AE" sz="3700" b="1" dirty="0"/>
              <a:t>Primary Dataset:</a:t>
            </a:r>
            <a:r>
              <a:rPr lang="en-AE" sz="3700" dirty="0"/>
              <a:t> </a:t>
            </a:r>
            <a:r>
              <a:rPr lang="en-AE" sz="3700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Fitbit Fitness Tracker Data </a:t>
            </a:r>
            <a:r>
              <a:rPr lang="en-AE" sz="3700" dirty="0"/>
              <a:t>(CC0 Public Domain via Mobius on Kaggle) tracking an active consumer cohort over a 31-day monitoring window.</a:t>
            </a:r>
          </a:p>
          <a:p>
            <a:r>
              <a:rPr lang="en-AE" sz="3700" b="1" dirty="0"/>
              <a:t>Relational Input Tables:</a:t>
            </a:r>
            <a:r>
              <a:rPr lang="en-AE" sz="3700" dirty="0"/>
              <a:t> Granular data processed using SQL Server Management Studio (SSMS), including dailyActivity_merged.csv, sleepDay_merged.csv, hourlySteps_merged.csv, hourlyIntensities_merged.csv, hourlyCalories_merged.csv and  minuteMETsNarrow_merged.csv tables.</a:t>
            </a:r>
          </a:p>
          <a:p>
            <a:r>
              <a:rPr lang="en-AE" sz="3700" b="1" dirty="0"/>
              <a:t>Data Constraints &amp; Mitigation:</a:t>
            </a:r>
            <a:endParaRPr lang="en-AE" sz="3700" dirty="0"/>
          </a:p>
          <a:p>
            <a:r>
              <a:rPr lang="en-AE" sz="3700" i="1" dirty="0"/>
              <a:t>Limitation:</a:t>
            </a:r>
            <a:r>
              <a:rPr lang="en-AE" sz="3700" dirty="0"/>
              <a:t> Compact sample size (33 unique user IDs) and lack of direct demographic markers (age, gender, location).</a:t>
            </a:r>
          </a:p>
          <a:p>
            <a:r>
              <a:rPr lang="en-AE" sz="3700" i="1" dirty="0"/>
              <a:t>Mitigation:</a:t>
            </a:r>
            <a:r>
              <a:rPr lang="en-AE" sz="3700" dirty="0"/>
              <a:t> Heavily aggregated individual transactional records into group-level metrics, focusing on robust macro-level trends and weekday variations to eliminate statistical skew.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4069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0290-E4E9-ADA5-2911-8D2699F7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E" dirty="0"/>
              <a:t>📊 Activity Profiling and Weekday Engagement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73E23-C7A0-0AEB-56A4-183D31FD4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688" y="1825625"/>
            <a:ext cx="103526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0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E5C2-D9F8-DEA0-79D2-27F0C13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Activity and Engagement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2088-1CCB-704D-C1C0-7CA666B46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E" b="1" dirty="0"/>
              <a:t>User Segment Distribution:</a:t>
            </a:r>
            <a:r>
              <a:rPr lang="en-AE" dirty="0"/>
              <a:t> The consumer landscape is highly diverse, tracking 8 Sedentary, 9 Lightly Active, 9 Fairly Active, and 7 Very Active users.</a:t>
            </a:r>
          </a:p>
          <a:p>
            <a:r>
              <a:rPr lang="en-AE" b="1" dirty="0"/>
              <a:t>The Addressable Market:</a:t>
            </a:r>
            <a:r>
              <a:rPr lang="en-AE" dirty="0"/>
              <a:t> Lower-tier users (</a:t>
            </a:r>
            <a:r>
              <a:rPr lang="en-AE" i="1" dirty="0"/>
              <a:t>Sedentary</a:t>
            </a:r>
            <a:r>
              <a:rPr lang="en-AE" dirty="0"/>
              <a:t> and </a:t>
            </a:r>
            <a:r>
              <a:rPr lang="en-AE" i="1" dirty="0"/>
              <a:t>Lightly Active</a:t>
            </a:r>
            <a:r>
              <a:rPr lang="en-AE" dirty="0"/>
              <a:t>) comprise </a:t>
            </a:r>
            <a:r>
              <a:rPr lang="en-AE" b="1" dirty="0"/>
              <a:t>51.5%</a:t>
            </a:r>
            <a:r>
              <a:rPr lang="en-AE" dirty="0"/>
              <a:t> of the tracked population, defining a massive customer acquisition opportunity.</a:t>
            </a:r>
          </a:p>
          <a:p>
            <a:r>
              <a:rPr lang="en-AE" b="1" dirty="0"/>
              <a:t>The Performance Chasm:</a:t>
            </a:r>
            <a:r>
              <a:rPr lang="en-AE" dirty="0"/>
              <a:t> A severe </a:t>
            </a:r>
            <a:r>
              <a:rPr lang="en-AE" dirty="0" err="1"/>
              <a:t>behavioral</a:t>
            </a:r>
            <a:r>
              <a:rPr lang="en-AE" dirty="0"/>
              <a:t> gap exists between lifestyle groups; </a:t>
            </a:r>
            <a:r>
              <a:rPr lang="en-AE" i="1" dirty="0"/>
              <a:t>Very Active</a:t>
            </a:r>
            <a:r>
              <a:rPr lang="en-AE" dirty="0"/>
              <a:t> users average an exceptional </a:t>
            </a:r>
            <a:r>
              <a:rPr lang="en-AE" b="1" dirty="0"/>
              <a:t>12,487 steps per day</a:t>
            </a:r>
            <a:r>
              <a:rPr lang="en-AE" dirty="0"/>
              <a:t>, while </a:t>
            </a:r>
            <a:r>
              <a:rPr lang="en-AE" i="1" dirty="0"/>
              <a:t>Sedentary</a:t>
            </a:r>
            <a:r>
              <a:rPr lang="en-AE" dirty="0"/>
              <a:t> users average a minimal </a:t>
            </a:r>
            <a:r>
              <a:rPr lang="en-AE" b="1" dirty="0"/>
              <a:t>2,936 steps</a:t>
            </a:r>
            <a:r>
              <a:rPr lang="en-AE" dirty="0"/>
              <a:t>. </a:t>
            </a:r>
          </a:p>
          <a:p>
            <a:r>
              <a:rPr lang="en-AE" b="1" dirty="0"/>
              <a:t>Weekly Workflow Fluctuations:</a:t>
            </a:r>
            <a:r>
              <a:rPr lang="en-AE" dirty="0"/>
              <a:t> Physical movement is highly non-uniform. Group activity sharply peaks mid-week on </a:t>
            </a:r>
            <a:r>
              <a:rPr lang="en-AE" b="1" dirty="0"/>
              <a:t>Tuesdays (index high: 1,207)</a:t>
            </a:r>
            <a:r>
              <a:rPr lang="en-AE" dirty="0"/>
              <a:t> and experiences a severe weekend slump, bottoming out on </a:t>
            </a:r>
            <a:r>
              <a:rPr lang="en-AE" b="1" dirty="0"/>
              <a:t>Sundays (index low: 820)</a:t>
            </a:r>
            <a:r>
              <a:rPr lang="en-A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810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205E-44E9-BAD1-74B5-B04C1073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E"/>
              <a:t>💤 Sleep Efficiency and Physiological Effort Dynamics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EBD55-A54B-D6D0-ED48-9AA7B8BA3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4141" y="1825625"/>
            <a:ext cx="98637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3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B721-7EF4-4823-677C-09F39565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Sleep and Energy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B767-D97F-0339-4703-A4CF4D8A3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825625"/>
            <a:ext cx="11847871" cy="4667250"/>
          </a:xfrm>
        </p:spPr>
        <p:txBody>
          <a:bodyPr>
            <a:normAutofit fontScale="77500" lnSpcReduction="20000"/>
          </a:bodyPr>
          <a:lstStyle/>
          <a:p>
            <a:r>
              <a:rPr lang="en-AE" b="1" dirty="0"/>
              <a:t>The </a:t>
            </a:r>
            <a:r>
              <a:rPr lang="en-AE" b="1" dirty="0" err="1"/>
              <a:t>Behavioral</a:t>
            </a:r>
            <a:r>
              <a:rPr lang="en-AE" b="1" dirty="0"/>
              <a:t> Sleep Gap:</a:t>
            </a:r>
            <a:r>
              <a:rPr lang="en-AE" dirty="0"/>
              <a:t> Widespread, systemic inefficiencies occur between sleep intent and physiological rest. While users consistently allocate a healthy 7 to 8 hours in bed, actual sleep durations frequently drop below 6 hours. </a:t>
            </a:r>
          </a:p>
          <a:p>
            <a:r>
              <a:rPr lang="en-AE" b="1" dirty="0"/>
              <a:t>Wasted Time Outliers:</a:t>
            </a:r>
            <a:r>
              <a:rPr lang="en-AE" dirty="0"/>
              <a:t> Sleep vulnerability is highly individualized and skewed. A severe outlier spends an average of </a:t>
            </a:r>
            <a:r>
              <a:rPr lang="en-AE" b="1" dirty="0"/>
              <a:t>309 minutes (over 5 hours)</a:t>
            </a:r>
            <a:r>
              <a:rPr lang="en-AE" dirty="0"/>
              <a:t> awake or restless in bed daily, while a secondary risk cluster loses </a:t>
            </a:r>
            <a:r>
              <a:rPr lang="en-AE" b="1" dirty="0"/>
              <a:t>39 to 52 minutes</a:t>
            </a:r>
            <a:r>
              <a:rPr lang="en-AE" dirty="0"/>
              <a:t> nightly. </a:t>
            </a:r>
          </a:p>
          <a:p>
            <a:r>
              <a:rPr lang="en-AE" b="1" dirty="0"/>
              <a:t>The Friday Calorie Divergence:</a:t>
            </a:r>
            <a:r>
              <a:rPr lang="en-AE" dirty="0"/>
              <a:t> On Fridays, collective distance </a:t>
            </a:r>
            <a:r>
              <a:rPr lang="en-AE" dirty="0" err="1"/>
              <a:t>traveled</a:t>
            </a:r>
            <a:r>
              <a:rPr lang="en-AE" dirty="0"/>
              <a:t> drops significantly to </a:t>
            </a:r>
            <a:r>
              <a:rPr lang="en-AE" b="1" dirty="0"/>
              <a:t>21.58 miles</a:t>
            </a:r>
            <a:r>
              <a:rPr lang="en-AE" dirty="0"/>
              <a:t>, yet caloric burn remains highly resilient at </a:t>
            </a:r>
            <a:r>
              <a:rPr lang="en-AE" b="1" dirty="0"/>
              <a:t>9,478 calories</a:t>
            </a:r>
            <a:r>
              <a:rPr lang="en-AE" dirty="0"/>
              <a:t>. This confirms stationary, high-exertion weekend gym training (weightlifting, </a:t>
            </a:r>
            <a:r>
              <a:rPr lang="en-AE" dirty="0" err="1"/>
              <a:t>pilates</a:t>
            </a:r>
            <a:r>
              <a:rPr lang="en-AE" dirty="0"/>
              <a:t>) that burns energy without forward mileage.</a:t>
            </a:r>
          </a:p>
          <a:p>
            <a:r>
              <a:rPr lang="en-AE" b="1" dirty="0"/>
              <a:t>Algorithmic Verification:</a:t>
            </a:r>
            <a:r>
              <a:rPr lang="en-AE" dirty="0"/>
              <a:t> High-density scatter plots map a tight cluster between 30K and 38K METs, proving that daily calorie expenditure is reliably driven by verified physiological exertion.</a:t>
            </a:r>
          </a:p>
        </p:txBody>
      </p:sp>
    </p:spTree>
    <p:extLst>
      <p:ext uri="{BB962C8B-B14F-4D97-AF65-F5344CB8AC3E}">
        <p14:creationId xmlns:p14="http://schemas.microsoft.com/office/powerpoint/2010/main" val="48158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12ED-5EB5-6F84-58A1-18093516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1325563"/>
          </a:xfrm>
        </p:spPr>
        <p:txBody>
          <a:bodyPr>
            <a:normAutofit/>
          </a:bodyPr>
          <a:lstStyle/>
          <a:p>
            <a:r>
              <a:rPr lang="en-AE" dirty="0"/>
              <a:t>💡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42B7-E857-4D84-EEB0-670560AA1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1602658"/>
            <a:ext cx="11592233" cy="5165519"/>
          </a:xfrm>
        </p:spPr>
        <p:txBody>
          <a:bodyPr>
            <a:normAutofit fontScale="47500" lnSpcReduction="20000"/>
          </a:bodyPr>
          <a:lstStyle/>
          <a:p>
            <a:r>
              <a:rPr lang="en-AE" sz="4400" b="1" dirty="0"/>
              <a:t>The Segment Opportunity:</a:t>
            </a:r>
            <a:r>
              <a:rPr lang="en-AE" sz="4400" dirty="0"/>
              <a:t> A major proportion (</a:t>
            </a:r>
            <a:r>
              <a:rPr lang="en-AE" sz="4400" b="1" dirty="0"/>
              <a:t>51.5%</a:t>
            </a:r>
            <a:r>
              <a:rPr lang="en-AE" sz="4400" dirty="0"/>
              <a:t>) of the tracked user base falls within the </a:t>
            </a:r>
            <a:r>
              <a:rPr lang="en-AE" sz="4400" i="1" dirty="0"/>
              <a:t>Sedentary</a:t>
            </a:r>
            <a:r>
              <a:rPr lang="en-AE" sz="4400" dirty="0"/>
              <a:t> and </a:t>
            </a:r>
            <a:r>
              <a:rPr lang="en-AE" sz="4400" i="1" dirty="0"/>
              <a:t>Lightly Active</a:t>
            </a:r>
            <a:r>
              <a:rPr lang="en-AE" sz="4400" dirty="0"/>
              <a:t> profiles, highlighting a massive market segment ripe for healthy lifestyle guidance.</a:t>
            </a:r>
          </a:p>
          <a:p>
            <a:r>
              <a:rPr lang="en-AE" sz="4400" b="1" dirty="0"/>
              <a:t>The Performance Chasm:</a:t>
            </a:r>
            <a:r>
              <a:rPr lang="en-AE" sz="4400" dirty="0"/>
              <a:t> Metrics reveal a severe performance variance between groups. </a:t>
            </a:r>
            <a:r>
              <a:rPr lang="en-AE" sz="4400" i="1" dirty="0"/>
              <a:t>Very Active</a:t>
            </a:r>
            <a:r>
              <a:rPr lang="en-AE" sz="4400" dirty="0"/>
              <a:t> users average an exceptional </a:t>
            </a:r>
            <a:r>
              <a:rPr lang="en-AE" sz="4400" b="1" dirty="0"/>
              <a:t>12,487 steps per day</a:t>
            </a:r>
            <a:r>
              <a:rPr lang="en-AE" sz="4400" dirty="0"/>
              <a:t>, while </a:t>
            </a:r>
            <a:r>
              <a:rPr lang="en-AE" sz="4400" i="1" dirty="0"/>
              <a:t>Sedentary</a:t>
            </a:r>
            <a:r>
              <a:rPr lang="en-AE" sz="4400" dirty="0"/>
              <a:t> users fall drastically behind at just </a:t>
            </a:r>
            <a:r>
              <a:rPr lang="en-AE" sz="4400" b="1" dirty="0"/>
              <a:t>2,936 steps</a:t>
            </a:r>
            <a:r>
              <a:rPr lang="en-AE" sz="4400" dirty="0"/>
              <a:t>.</a:t>
            </a:r>
          </a:p>
          <a:p>
            <a:r>
              <a:rPr lang="en-AE" sz="4400" b="1" dirty="0"/>
              <a:t>The Weekend Slump:</a:t>
            </a:r>
            <a:r>
              <a:rPr lang="en-AE" sz="4400" dirty="0"/>
              <a:t> Group activity tracking is not uniform. Physical movement peaks aggressively mid-week on </a:t>
            </a:r>
            <a:r>
              <a:rPr lang="en-AE" sz="4400" b="1" dirty="0"/>
              <a:t>Tuesdays (activity index: 1,207)</a:t>
            </a:r>
            <a:r>
              <a:rPr lang="en-AE" sz="4400" dirty="0"/>
              <a:t>, but steadily drops as users lose weekly routine structure, bottoming out on </a:t>
            </a:r>
            <a:r>
              <a:rPr lang="en-AE" sz="4400" b="1" dirty="0"/>
              <a:t>Sundays (activity index: 820)</a:t>
            </a:r>
            <a:r>
              <a:rPr lang="en-AE" sz="4400" dirty="0"/>
              <a:t>.</a:t>
            </a:r>
          </a:p>
          <a:p>
            <a:r>
              <a:rPr lang="en-AE" sz="4400" b="1" dirty="0"/>
              <a:t>Systemic Sleep Inefficiency:</a:t>
            </a:r>
            <a:r>
              <a:rPr lang="en-AE" sz="4400" dirty="0"/>
              <a:t> Visual alignments prove a profound gap between </a:t>
            </a:r>
            <a:r>
              <a:rPr lang="en-AE" sz="4400" dirty="0" err="1"/>
              <a:t>behavioral</a:t>
            </a:r>
            <a:r>
              <a:rPr lang="en-AE" sz="4400" dirty="0"/>
              <a:t> intent and true physiological rest. Users regularly dedicate 7 to 9 optimal hours to being in bed while capturing under 6 hours of actual sleep.</a:t>
            </a:r>
          </a:p>
          <a:p>
            <a:r>
              <a:rPr lang="en-AE" sz="4400" b="1" dirty="0"/>
              <a:t>The Restless Outlier:</a:t>
            </a:r>
            <a:r>
              <a:rPr lang="en-AE" sz="4400" dirty="0"/>
              <a:t> Pareto distribution analysis isolates severe individual sleep vulnerabilities, highlighting an extreme outlier losing an average of </a:t>
            </a:r>
            <a:r>
              <a:rPr lang="en-AE" sz="4400" b="1" dirty="0"/>
              <a:t>309 minutes (over 5 hours) every single day</a:t>
            </a:r>
            <a:r>
              <a:rPr lang="en-AE" sz="4400" dirty="0"/>
              <a:t> lying awake inside the bedding frame.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30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F0FF-D98A-F505-6B72-56806CE1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7"/>
            <a:ext cx="10515600" cy="1325563"/>
          </a:xfrm>
        </p:spPr>
        <p:txBody>
          <a:bodyPr>
            <a:normAutofit/>
          </a:bodyPr>
          <a:lstStyle/>
          <a:p>
            <a:r>
              <a:rPr lang="en-AE" sz="3400" dirty="0"/>
              <a:t>🚀 Product Expansion and Engagement Roadmap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6D56-A6AF-A6DE-88F5-9FD8D6DF6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5050"/>
            <a:ext cx="12192000" cy="5422949"/>
          </a:xfrm>
        </p:spPr>
        <p:txBody>
          <a:bodyPr>
            <a:normAutofit fontScale="70000" lnSpcReduction="20000"/>
          </a:bodyPr>
          <a:lstStyle/>
          <a:p>
            <a:r>
              <a:rPr lang="en-AE" b="1" dirty="0"/>
              <a:t>1. In-App "Sleep Hygiene Optimization" Module (Product Expansion)</a:t>
            </a:r>
            <a:endParaRPr lang="en-AE" dirty="0"/>
          </a:p>
          <a:p>
            <a:r>
              <a:rPr lang="en-AE" i="1" u="sng" dirty="0"/>
              <a:t>Action:</a:t>
            </a:r>
            <a:r>
              <a:rPr lang="en-AE" dirty="0"/>
              <a:t> Introduce premium, data-driven features within the </a:t>
            </a:r>
            <a:r>
              <a:rPr lang="en-AE" dirty="0" err="1"/>
              <a:t>Bellabeat</a:t>
            </a:r>
            <a:r>
              <a:rPr lang="en-AE" dirty="0"/>
              <a:t> App to tackle the 39 to 52-minute average bedtime waste cycle.</a:t>
            </a:r>
          </a:p>
          <a:p>
            <a:r>
              <a:rPr lang="en-AE" i="1" u="sng" dirty="0"/>
              <a:t>Deliverable:</a:t>
            </a:r>
            <a:r>
              <a:rPr lang="en-AE" dirty="0"/>
              <a:t> Deploy automated wind-down reminders, sleep-induction audio, and guided evening mindfulness to actively optimize sleep quality. </a:t>
            </a:r>
          </a:p>
          <a:p>
            <a:r>
              <a:rPr lang="en-AE" b="1" dirty="0"/>
              <a:t>2. Deploy "Mid-Week Momentum" Smart Notifications (Targeted Retention)</a:t>
            </a:r>
            <a:endParaRPr lang="en-AE" dirty="0"/>
          </a:p>
          <a:p>
            <a:r>
              <a:rPr lang="en-AE" i="1" u="sng" dirty="0"/>
              <a:t>Action:</a:t>
            </a:r>
            <a:r>
              <a:rPr lang="en-AE" dirty="0"/>
              <a:t> Counteract the severe weekend step decline (dropping to an index low of 820 on Sundays). </a:t>
            </a:r>
          </a:p>
          <a:p>
            <a:r>
              <a:rPr lang="en-AE" i="1" u="sng" dirty="0"/>
              <a:t>Deliverable:</a:t>
            </a:r>
            <a:r>
              <a:rPr lang="en-AE" dirty="0"/>
              <a:t> Program Leaf and Time wearables to push haptic nudges and tailored </a:t>
            </a:r>
            <a:r>
              <a:rPr lang="en-AE" b="1" dirty="0"/>
              <a:t>"Weekend Warrior"</a:t>
            </a:r>
            <a:r>
              <a:rPr lang="en-AE" dirty="0"/>
              <a:t> or </a:t>
            </a:r>
            <a:r>
              <a:rPr lang="en-AE" b="1" dirty="0"/>
              <a:t>"Saturday Step-Up"</a:t>
            </a:r>
            <a:r>
              <a:rPr lang="en-AE" dirty="0"/>
              <a:t> motivational alerts on Friday afternoons. </a:t>
            </a:r>
          </a:p>
          <a:p>
            <a:r>
              <a:rPr lang="en-AE" b="1" dirty="0"/>
              <a:t>3. Gamify Step Tier Transitions (User Lifetime Value)</a:t>
            </a:r>
            <a:endParaRPr lang="en-AE" dirty="0"/>
          </a:p>
          <a:p>
            <a:r>
              <a:rPr lang="en-AE" i="1" u="sng" dirty="0"/>
              <a:t>Action:</a:t>
            </a:r>
            <a:r>
              <a:rPr lang="en-AE" dirty="0"/>
              <a:t> Lower the entry barrier for the </a:t>
            </a:r>
            <a:r>
              <a:rPr lang="en-AE" b="1" dirty="0"/>
              <a:t>51.5%</a:t>
            </a:r>
            <a:r>
              <a:rPr lang="en-AE" dirty="0"/>
              <a:t> of consumers stuck in the Sedentary and Lightly Active brackets.</a:t>
            </a:r>
          </a:p>
          <a:p>
            <a:r>
              <a:rPr lang="en-AE" i="1" u="sng" dirty="0"/>
              <a:t>Deliverable:</a:t>
            </a:r>
            <a:r>
              <a:rPr lang="en-AE" dirty="0"/>
              <a:t> Replace rigid 10,000-step goals with adaptive, incremental milestones (e.g., </a:t>
            </a:r>
            <a:r>
              <a:rPr lang="en-AE" dirty="0" err="1"/>
              <a:t>leveling</a:t>
            </a:r>
            <a:r>
              <a:rPr lang="en-AE" dirty="0"/>
              <a:t> up from 3,000 to 5,000 steps), rewarding progression with digital badges. </a:t>
            </a:r>
          </a:p>
          <a:p>
            <a:endParaRPr lang="en-AE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4031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8B1A-C7B4-1B4F-6BC0-6EF6BFA0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E" sz="3600" dirty="0"/>
              <a:t>🏁 Premium Monetization and Strategic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5A57-93EB-7046-1E70-C56A3F0C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1716"/>
            <a:ext cx="12015019" cy="5633884"/>
          </a:xfrm>
        </p:spPr>
        <p:txBody>
          <a:bodyPr>
            <a:normAutofit/>
          </a:bodyPr>
          <a:lstStyle/>
          <a:p>
            <a:r>
              <a:rPr lang="en-AE" sz="2300" b="1" dirty="0"/>
              <a:t>Positioning the Premium </a:t>
            </a:r>
            <a:r>
              <a:rPr lang="en-AE" sz="2300" b="1" dirty="0" err="1"/>
              <a:t>Bellabeat</a:t>
            </a:r>
            <a:r>
              <a:rPr lang="en-AE" sz="2300" b="1" dirty="0"/>
              <a:t> Membership:</a:t>
            </a:r>
            <a:endParaRPr lang="en-AE" sz="2300" dirty="0"/>
          </a:p>
          <a:p>
            <a:r>
              <a:rPr lang="en-AE" sz="2300" dirty="0"/>
              <a:t>Leverage the verified predictive accuracy of the ecosystem’s metabolic equations (METs vs. Calorie Burn) as a primary marketing differentiator. </a:t>
            </a:r>
          </a:p>
          <a:p>
            <a:r>
              <a:rPr lang="en-AE" sz="2300" dirty="0"/>
              <a:t>Position the membership platform to automatically deploy customized recovery profiles, workout efficiency metrics, and targeted nutritional advice the moment a wearable device logs a high-intensity, non-distance workout.</a:t>
            </a:r>
          </a:p>
          <a:p>
            <a:r>
              <a:rPr lang="en-AE" sz="2300" b="1" dirty="0"/>
              <a:t>Strategic Conclusion:</a:t>
            </a:r>
            <a:endParaRPr lang="en-AE" sz="2300" dirty="0"/>
          </a:p>
          <a:p>
            <a:r>
              <a:rPr lang="en-AE" sz="2300" i="1" u="sng" dirty="0"/>
              <a:t>The Pivot:</a:t>
            </a:r>
            <a:r>
              <a:rPr lang="en-AE" sz="2300" dirty="0"/>
              <a:t> Shift </a:t>
            </a:r>
            <a:r>
              <a:rPr lang="en-AE" sz="2300" dirty="0" err="1"/>
              <a:t>Bellabeat’s</a:t>
            </a:r>
            <a:r>
              <a:rPr lang="en-AE" sz="2300" dirty="0"/>
              <a:t> global brand narrative away from passive data tracking toward highly hyper-personalized, preventative health optimization. </a:t>
            </a:r>
          </a:p>
          <a:p>
            <a:r>
              <a:rPr lang="en-AE" sz="2300" i="1" u="sng" dirty="0"/>
              <a:t>The Business Value:</a:t>
            </a:r>
            <a:r>
              <a:rPr lang="en-AE" sz="2300" dirty="0"/>
              <a:t> Transitioning from a traditional consumer electronics manufacturer into a holistic digital health companion will unlock lucrative subscription models and secure </a:t>
            </a:r>
            <a:r>
              <a:rPr lang="en-AE" sz="2300" dirty="0" err="1"/>
              <a:t>Bellabeat’s</a:t>
            </a:r>
            <a:r>
              <a:rPr lang="en-AE" sz="2300" dirty="0"/>
              <a:t> status as a global leader in women's wellness tech.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26872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65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074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083" name="Rectangle 2082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052" name="Picture 4" descr="Professional Thank You Slides for Business Presentations">
            <a:extLst>
              <a:ext uri="{FF2B5EF4-FFF2-40B4-BE49-F238E27FC236}">
                <a16:creationId xmlns:a16="http://schemas.microsoft.com/office/drawing/2014/main" id="{88F379D4-3925-E637-5030-0BCB2912A6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1"/>
          <a:stretch>
            <a:fillRect/>
          </a:stretch>
        </p:blipFill>
        <p:spPr bwMode="auto">
          <a:xfrm>
            <a:off x="20" y="10"/>
            <a:ext cx="12188932" cy="685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7" name="Rectangle 2086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0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9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098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099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22351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1071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AvenirNext LT Pro Medium</vt:lpstr>
      <vt:lpstr>Sagona Book</vt:lpstr>
      <vt:lpstr>ExploreVTI</vt:lpstr>
      <vt:lpstr>⌚ BellaBeat Smart Wellness Device Analysis</vt:lpstr>
      <vt:lpstr>🎯 Business Task  and Strategic Objectives</vt:lpstr>
      <vt:lpstr>🗂️ Data Architecture and Analytical Scope</vt:lpstr>
      <vt:lpstr>📊 Activity Profiling and Weekday Engagement Metrics</vt:lpstr>
      <vt:lpstr>Activity and Engagement Trends</vt:lpstr>
      <vt:lpstr>💤 Sleep Efficiency and Physiological Effort Dynamics</vt:lpstr>
      <vt:lpstr>Sleep and Energy Dynamics</vt:lpstr>
      <vt:lpstr>💡 Key Insights</vt:lpstr>
      <vt:lpstr>🚀 Product Expansion and Engagement Roadmap Strategies</vt:lpstr>
      <vt:lpstr>🏁 Premium Monetization and Strategic Vision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Pritesh</dc:creator>
  <cp:lastModifiedBy>Das, Pritesh</cp:lastModifiedBy>
  <cp:revision>2</cp:revision>
  <dcterms:created xsi:type="dcterms:W3CDTF">2026-06-02T06:19:25Z</dcterms:created>
  <dcterms:modified xsi:type="dcterms:W3CDTF">2026-06-02T07:06:50Z</dcterms:modified>
</cp:coreProperties>
</file>